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Уважаемые члены комиссии, тема моей работы — оптимизация больших языковых моделей методом адаптивного спекулятивного декодирования. Докладывает Козин Александр.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затраты на LLM — это инференс, а его узкое место — последовательная генерация. SD ускоряет её, но его ключевые гиперпараметры фиксированы и не подстраиваются под состояние генерации.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Дешёвый черновик угадывает несколько токенов, дорогая модель проверяет их разом. Управлять можно двумя ручками — длиной черновика и порогом приёмки.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Почти все методы адаптируют одну ось, а вторую держат фиксированной. Совместного адаптивного управления обеими осями в литературе не было — эту клетку закрывает работа.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формализовать совместное управление двумя осями. Для этого поставлены четыре задачи: от анализа литературы до воспроизводимого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шаг — выбор действия в марковском процессе: состояние — признаки генерации, действие — пара (длина, порог). Процесс маленький, 3600 состояний, решается точно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Получен аппарат из шести результатов. Ключевой — теорема D: она точно выражает разрыв между совместной и каскадной политиками и объясняет, почему на практике они совпадают.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 реализован как воспроизводимый конвейер: каждый прогон детерминирован и сопровождается манифестом; на defense snapshot полный pytest-набор прошёл как 94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исторический крупный прогон и мотивационное свидетельство. После аудита он помечен как legacy evidence: финальный block-v1 claim требует rerun с новой 9-action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Нужна ли адаптивность, если порог можно подобрать? Pre-repair ablation показывает мотивацию, но финальный block-v1 результат требует повторного прогона.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обозначаю границы: совместная политика не превосходит каскадную (предсказание теории), прямая генерация быстрее всех, на паре с низким отношением мощностей эффекта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— не отдельный рекорд, а единый фреймворк с доказанными свойствами и честной картиной того, когда совместное адаптивное управление действительно полезно.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защиту выносятся четыре положения: формализуемость совместного управления как конечного MDP; доказанные теоретические свойства; исправленная реализация и защита артефактов; границы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код, тесты, манифесты и полный текст работы открыты — QR ведёт на immutable snapshot v1-defense.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B2A4A"/>
                </a:solidFill>
                <a:latin typeface="Calibri"/>
              </a:rPr>
              <a:t>Оптимизация больших языковых моделей
методом адаптивного спекулятивного декодирования</a:t>
            </a:r>
          </a:p>
          <a:p>
            <a:pPr algn="ctr"/>
            <a:r>
              <a:rPr sz="2000" b="1" i="0">
                <a:solidFill>
                  <a:srgbClr val="2BB3A3"/>
                </a:solidFill>
                <a:latin typeface="Calibri"/>
              </a:rPr>
              <a:t>Метод JointAdaSpec на основе марковского процесса принятия решений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601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2430"/>
                </a:solidFill>
                <a:latin typeface="Calibri"/>
              </a:rPr>
              <a:t>Выпускная квалификационная работа (магистерская диссертация)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430"/>
                </a:solidFill>
                <a:latin typeface="Calibri"/>
              </a:rPr>
              <a:t>Козин Александр Александрович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Научный руководитель: ______________________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Кубанский государственный университет · факультет прикладной математики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кафедра математического моделирования · Краснодар,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ЗАЧЕМ ЭТО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Актуальность и 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2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Стоимость LLM сместилась на инференс — 60–90 % полной стоимости жизненного цикла модели.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Авторегрессионная генерация: n последовательных непараллелизуемых проходов; режим, ограниченный памятью.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Спекулятивное декодирование (SD) — промышленный стандарт ускорения (vLLM, TensorRT-LLM).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1" i="0">
                <a:solidFill>
                  <a:srgbClr val="1B2A4A"/>
                </a:solidFill>
                <a:latin typeface="Calibri"/>
              </a:rPr>
              <a:t>Проблема: длина черновика γ и порог верификации T фиксированы и неадаптивны.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БАЗОВЫЙ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Спекулятивное декодирование: идея и две оси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1060704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Дешёвая черновая модель предлагает блок токенов; дорогая целевая проверяет его за один проход.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Modified rejection sampling гарантирует точное распределение — без потерь качества при T = 1.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1" i="0">
                <a:solidFill>
                  <a:srgbClr val="1B2A4A"/>
                </a:solidFill>
                <a:latin typeface="Calibri"/>
              </a:rPr>
              <a:t>Две независимые оси управления: длина черновика γ и порог верификации 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Черновик q:
блок γ токенов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Целевая p:
проверка за 1 проход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Принятый префикс
+ ресемпл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172"/>
                </a:solidFill>
                <a:latin typeface="Calibri"/>
              </a:rPr>
              <a:t>Две «ручки» управления:  γ — сколько токенов предлагать   ·   T — насколько строго принимать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МЕСТО РАБОТЫ В ЛИТЕРАТУРЕ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Сравнение методов и исследовательский пробел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4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05840" y="1600200"/>
          <a:ext cx="1014983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468879"/>
                <a:gridCol w="2468879"/>
                <a:gridCol w="2468879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фиксир.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эвристич.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обучаемая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строгая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классич.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DISCO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SpecDec++, SVIP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фикс.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AutoJudge, Fuzzy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адаптивн.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MARS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JointAdaSpec ★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05840" y="5212080"/>
            <a:ext cx="10149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 i="0">
                <a:solidFill>
                  <a:srgbClr val="1F2430"/>
                </a:solidFill>
                <a:latin typeface="Calibri"/>
              </a:rPr>
              <a:t>Существующие методы адаптируют ровно одну ось. Пустая клетка </a:t>
            </a:r>
            <a:r>
              <a:rPr sz="1800" b="1" i="0">
                <a:solidFill>
                  <a:srgbClr val="1B2A4A"/>
                </a:solidFill>
                <a:latin typeface="Calibri"/>
              </a:rPr>
              <a:t>«обучаемая длина × адаптивная верификация»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 — её закрывает JointAdaSpec.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0607040" cy="1051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Цель: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метод адаптивного спекулятивного декодирования, совместно управляющий парой (длина черновика, порог верификации) как задачей оптимального управления.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051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Анализ методов ускорения инференса и точная формулировка исследовательского пробела.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MDP-модель совместного управления и её теоретический анализ.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Воспроизводимый программный комплекс.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Экспериментальная оценка и установление границ применимости.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ЧТО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Метод JointAdaSpec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6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Каждый цикл декодирования = выбор действия в дискретном MDP (S, A, P, r, λ).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Состояние s = (энтропия черновика H, дивергенция K = KL(q‖p), позиция k).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Действие a ∈ {continue} ∪ {verify@T}; |S| = 3600, |A| = 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Награда r = η − κ·D: скорость минус штраф за качество; решение — value iteration, λ = 0,99.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1" i="0">
                <a:solidFill>
                  <a:srgbClr val="1B2A4A"/>
                </a:solidFill>
                <a:latin typeface="Calibri"/>
              </a:rPr>
              <a:t>Политика — таблица ≈ 2 КБ, поиск O(1) на шаг, без обучения нейросетей.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Состояние
(H, K, 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Политика-таблица
(value iteration)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Действие
continue/verify@T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ШЕСТЬ РЕЗУЛЬТАТОВ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Теоретические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A.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Выборочная сложность оценщика переходов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B.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исправленная reward-shaping формулировка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0896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C.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Оценка субоптимальности каскада через массу нарушения μ*_J(B)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108960"/>
            <a:ext cx="5074920" cy="12344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2BB3A3"/>
                </a:solidFill>
                <a:latin typeface="Calibri"/>
              </a:rPr>
              <a:t>Теорема D.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Точный разрыв ценности совместной и каскадной политик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2.3.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Слабое доминирование совместной политики над каскадной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2.4.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Скаляризация Парето-фронта по коэффициенту 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ИНЖЕНЕРНАЯ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Программная реализация и воспроизводимость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20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01
Сбор трейсов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9778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696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02
Решение MDP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954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72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03
Бенчмарк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0130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048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04
Проверка условий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106070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Стек: Python 3.12, PyTorch, scipy.sparse, Hydra; полный pytest-набор: 94 теста на v1-defense.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Воспроизводимость: манифесты (git SHA, сиды [42, 43, 44], SHA256), детерминированные прогоны.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Совместимость с инференс-фреймворками без переобучения базовых моделей.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PRE-REPAIR ARTIFACT · GSM8K · N = 1500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Legacy evidence: пара 14B / 0.5B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9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41732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9202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Метод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EM, %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ток/с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 EM к target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target_only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52,93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14,45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speculative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53,27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4,88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+0,33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cascade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57,13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10,29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+4,20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0,015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jointadaspec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57,00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10,84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+4,07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0,020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3977639"/>
            <a:ext cx="5120640" cy="2194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000" b="1" i="0">
                <a:solidFill>
                  <a:srgbClr val="1E9E5A"/>
                </a:solidFill>
                <a:latin typeface="Calibri"/>
              </a:rPr>
              <a:t>+4,07 п.п.</a:t>
            </a:r>
          </a:p>
          <a:p>
            <a:pPr algn="ctr"/>
            <a:r>
              <a:rPr sz="1500" b="0" i="0">
                <a:solidFill>
                  <a:srgbClr val="1F2430"/>
                </a:solidFill>
                <a:latin typeface="Calibri"/>
              </a:rPr>
              <a:t>legacy EM к target (p = 0,0205)</a:t>
            </a:r>
          </a:p>
          <a:p>
            <a:pPr algn="ctr"/>
            <a:r>
              <a:rPr sz="2600" b="1" i="0">
                <a:solidFill>
                  <a:srgbClr val="1B2A4A"/>
                </a:solidFill>
                <a:latin typeface="Calibri"/>
              </a:rPr>
              <a:t>2,22× </a:t>
            </a:r>
            <a:r>
              <a:rPr sz="1400" b="0" i="0">
                <a:solidFill>
                  <a:srgbClr val="5A6172"/>
                </a:solidFill>
                <a:latin typeface="Calibri"/>
              </a:rPr>
              <a:t>пропускной способности (к ванильному SD)</a:t>
            </a:r>
          </a:p>
          <a:p>
            <a:pPr algn="ctr"/>
            <a:r>
              <a:rPr sz="1200" b="1" i="0">
                <a:solidFill>
                  <a:srgbClr val="B5852A"/>
                </a:solidFill>
                <a:latin typeface="Calibri"/>
              </a:rPr>
              <a:t>не финальный block-v1 claim без rerun</a:t>
            </a:r>
          </a:p>
        </p:txBody>
      </p:sp>
      <p:pic>
        <p:nvPicPr>
          <p:cNvPr id="11" name="Picture 10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9267" y="2834639"/>
            <a:ext cx="5755145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212080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A6172"/>
                </a:solidFill>
                <a:latin typeface="Calibri"/>
              </a:rPr>
              <a:t>Парето-фронт: прямая генерация (target_only) — самая быстрая точка.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PRE-REPAIR ABLATION · N =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Адаптивность нетривиальна: эксперимент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10 / 14</a:t>
            </a:r>
          </a:p>
        </p:txBody>
      </p:sp>
      <p:pic>
        <p:nvPicPr>
          <p:cNvPr id="9" name="Picture 8" descr="fig_E_adaptivit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933034"/>
            <a:ext cx="10424160" cy="34491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194560" y="5623560"/>
            <a:ext cx="77724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1F2430"/>
                </a:solidFill>
                <a:latin typeface="Calibri"/>
              </a:rPr>
              <a:t>JointAdaSpec точнее любого фиксированного T на </a:t>
            </a:r>
            <a:r>
              <a:rPr sz="1600" b="1" i="0">
                <a:solidFill>
                  <a:srgbClr val="1E9E5A"/>
                </a:solidFill>
                <a:latin typeface="Calibri"/>
              </a:rPr>
              <a:t>+4…+8 п.п.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EM и быстрее </a:t>
            </a:r>
            <a:r>
              <a:rPr sz="1600" b="1" i="0">
                <a:solidFill>
                  <a:srgbClr val="1B2A4A"/>
                </a:solidFill>
                <a:latin typeface="Calibri"/>
              </a:rPr>
              <a:t>≈ 3,7×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(11,12 против ≈ 3,0 ток/с).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428232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B5852A"/>
                </a:solidFill>
                <a:latin typeface="Calibri"/>
              </a:rPr>
              <a:t>Мотивационная ablation evidence; финальный block-v1 результат требует rerun.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ГРАНИЦЫ ПРИМЕНИМОСТИ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Честная картина результатов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11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667512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joint ≈ cascade — статистическая ничья (Δ = −0,13 %, p = 0,96), ровно как предсказывает теорема D.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Прямая генерация (AR) — самый быстрый метод; «2,22×» — относительно ванильного SD, не AR.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Пара 7B / 1.5B (4,7×) — нуль-результат, устойчивый по триангуляции на трёх независимых окнах.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Прирост качества немонотонен: +7,4 п.п. при умеренной доле принятий, −2,6 п.п. при высокой.</a:t>
            </a:r>
          </a:p>
        </p:txBody>
      </p:sp>
      <p:pic>
        <p:nvPicPr>
          <p:cNvPr id="10" name="Picture 9" descr="fig_bonus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28919"/>
            <a:ext cx="4206240" cy="256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470916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5A6172"/>
                </a:solidFill>
                <a:latin typeface="Calibri"/>
              </a:rPr>
              <a:t>κ-развёртка: joint ≈ cascade на всём диапазоне.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Это не слабость изложения, а строгая характеризация области применимости.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ИТОГ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Заключение и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08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1508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Единый MDP-фреймворк совместного управления (длина, порог) — одна из первых табличных постановок в литературе.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51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2651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Теоретический аппарат A / B / C / D / 2.3 / 2.4 с доказательствами.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94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794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Честная эмпирическая характеризация: где адаптивность помогает, где нет и почему joint сводится к каскаду.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Направления: 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древовидное обобщение, распределительные признаки состояния, GPU-резидентная политика.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ТЕЗИСЫ ЗАЩИТЫ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Положения, выносимые на защиту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Совместное управление (длина, порог) формализуемо как конечный MDP (≈ 3600 состояний), решаемый точно методом value iteration без обучения нейросетевых модулей.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Доказаны выборочная сложность (A), исправленная reward-shaping формулировка (B), оценка и точный разрыв совместной и каскадной политик (C, D), слабое доминирование (2.3) и Парето-скаляризация (2.4).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Реализован block-v1 pipeline с семантической валидацией: legacy 16-action policies не переиспользуются как новые результаты.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Legacy-прогоны показывают потенциал; финальный block-v1 claim требует rerun. Установлены границы применимости: joint ≈ cascade и нуль на низком отношении мощностей.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694944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 i="0">
                <a:solidFill>
                  <a:srgbClr val="1B2A4A"/>
                </a:solidFill>
                <a:latin typeface="Calibri"/>
              </a:rPr>
              <a:t>Спасибо за внимание</a:t>
            </a:r>
          </a:p>
          <a:p>
            <a:pPr>
              <a:spcBef>
                <a:spcPts val="1800"/>
              </a:spcBef>
            </a:pPr>
            <a:r>
              <a:rPr sz="2000" b="0" i="0">
                <a:solidFill>
                  <a:srgbClr val="1F2430"/>
                </a:solidFill>
                <a:latin typeface="Calibri"/>
              </a:rPr>
              <a:t>Готов ответить на ваши вопросы.</a:t>
            </a:r>
          </a:p>
          <a:p>
            <a:pPr>
              <a:spcBef>
                <a:spcPts val="2400"/>
              </a:spcBef>
            </a:pPr>
            <a:r>
              <a:rPr sz="1500" b="0" i="0">
                <a:solidFill>
                  <a:srgbClr val="5A6172"/>
                </a:solidFill>
                <a:latin typeface="Calibri"/>
              </a:rPr>
              <a:t>Репозиторий: код, 94 pytest-теста, манифесты воспроизводимости,</a:t>
            </a:r>
          </a:p>
          <a:p>
            <a:r>
              <a:rPr sz="1500" b="0" i="0">
                <a:solidFill>
                  <a:srgbClr val="5A6172"/>
                </a:solidFill>
                <a:latin typeface="Calibri"/>
              </a:rPr>
              <a:t>полный текст ВКР и план презентации.</a:t>
            </a:r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2BB3A3"/>
                </a:solidFill>
                <a:latin typeface="DejaVu Sans Mono"/>
              </a:rPr>
              <a:t>github.com/levvius/adaptive-speculative-decoding/tree/v1-defense</a:t>
            </a:r>
          </a:p>
        </p:txBody>
      </p:sp>
      <p:pic>
        <p:nvPicPr>
          <p:cNvPr id="7" name="Picture 6" descr="rep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1488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7548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172"/>
                </a:solidFill>
                <a:latin typeface="Calibri"/>
              </a:rPr>
              <a:t>→ 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