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Уважаемые члены комиссии, тема моей работы — оптимизация больших языковых моделей методом адаптивного спекулятивного декодирования. Докладывает Козин Александр.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Основные затраты на LLM — это инференс, а его узкое место — последовательная генерация. SD ускоряет её, но его ключевые гиперпараметры фиксированы и не подстраиваются под состояние генерации.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Дешёвый черновик угадывает несколько токенов, дорогая модель проверяет их разом. Управлять можно двумя ручками — длиной черновика и порогом приёмки.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Почти все методы адаптируют одну ось, а вторую держат фиксированной. Совместного адаптивного управления обеими осями в литературе не было — эту клетку закрывает работа.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Цель — формализовать совместное управление двумя осями. Для этого поставлены четыре задачи: от анализа литературы до воспроизводимого эксперимента.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Каждый шаг — выбор действия в марковском процессе: состояние — признаки генерации, действие — пара (длина, порог). Процесс маленький, 3600 состояний, решается точно за секунды.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Получен аппарат из шести результатов. Ключевой — теорема D: она точно выражает разрыв между совместной и каскадной политиками и объясняет, почему на практике они совпадают.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Метод реализован как воспроизводимый конвейер: каждый прогон детерминирован и сопровождается манифестом, ядро покрыто 72 тестами.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Это исторический крупный прогон и мотивационное свидетельство. После аудита он помечен как legacy evidence: финальный block-v1 claim требует rerun с новой 9-action policy.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Нужна ли адаптивность, если порог можно подобрать? Pre-repair ablation показывает мотивацию, но финальный block-v1 результат требует повторного прогона.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Честно обозначаю границы: совместная политика не превосходит каскадную (предсказание теории), прямая генерация быстрее всех, на паре с низким отношением мощностей эффекта нет.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Итог — не отдельный рекорд, а единый фреймворк с доказанными свойствами и честной картиной того, когда совместное адаптивное управление действительно полезно.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 защиту выносятся четыре положения: формализуемость совместного управления как конечного MDP; доказанные теоретические свойства; исправленная реализация и защита артефактов; границы применимости.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Весь код, тесты, манифесты и полный текст работы открыты — QR ведёт на immutable snapshot v1-defense. Спасибо за внимание, готов ответить на вопросы.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2BB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60152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200" b="1" i="0">
                <a:solidFill>
                  <a:srgbClr val="1B2A4A"/>
                </a:solidFill>
                <a:latin typeface="Calibri"/>
              </a:rPr>
              <a:t>Оптимизация больших языковых моделей
методом адаптивного спекулятивного декодирования</a:t>
            </a:r>
          </a:p>
          <a:p>
            <a:pPr algn="ctr"/>
            <a:r>
              <a:rPr sz="2000" b="1" i="0">
                <a:solidFill>
                  <a:srgbClr val="2BB3A3"/>
                </a:solidFill>
                <a:latin typeface="Calibri"/>
              </a:rPr>
              <a:t>Метод JointAdaSpec на основе марковского процесса принятия решений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360152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1F2430"/>
                </a:solidFill>
                <a:latin typeface="Calibri"/>
              </a:rPr>
              <a:t>Выпускная квалификационная работа (магистерская диссертация)</a:t>
            </a:r>
          </a:p>
          <a:p>
            <a:pPr algn="ctr">
              <a:spcAft>
                <a:spcPts val="600"/>
              </a:spcAft>
            </a:pPr>
            <a:r>
              <a:rPr sz="1800" b="0" i="0">
                <a:solidFill>
                  <a:srgbClr val="1F2430"/>
                </a:solidFill>
                <a:latin typeface="Calibri"/>
              </a:rPr>
              <a:t>Козин Александр Александрович</a:t>
            </a:r>
          </a:p>
          <a:p>
            <a:pPr algn="ctr">
              <a:spcAft>
                <a:spcPts val="600"/>
              </a:spcAft>
            </a:pPr>
            <a:r>
              <a:rPr sz="1500" b="0" i="0">
                <a:solidFill>
                  <a:srgbClr val="5A6172"/>
                </a:solidFill>
                <a:latin typeface="Calibri"/>
              </a:rPr>
              <a:t>Научный руководитель: ______________________</a:t>
            </a:r>
          </a:p>
          <a:p>
            <a:pPr algn="ctr">
              <a:spcAft>
                <a:spcPts val="600"/>
              </a:spcAft>
            </a:pPr>
            <a:r>
              <a:rPr sz="1500" b="0" i="0">
                <a:solidFill>
                  <a:srgbClr val="5A6172"/>
                </a:solidFill>
                <a:latin typeface="Calibri"/>
              </a:rPr>
              <a:t>Кубанский государственный университет · факультет прикладной математики</a:t>
            </a:r>
          </a:p>
          <a:p>
            <a:pPr algn="ctr">
              <a:spcAft>
                <a:spcPts val="600"/>
              </a:spcAft>
            </a:pPr>
            <a:r>
              <a:rPr sz="1500" b="0" i="0">
                <a:solidFill>
                  <a:srgbClr val="5A6172"/>
                </a:solidFill>
                <a:latin typeface="Calibri"/>
              </a:rPr>
              <a:t>кафедра математического моделирования · Краснодар,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078992"/>
            <a:ext cx="3840480" cy="45720"/>
          </a:xfrm>
          <a:prstGeom prst="rect">
            <a:avLst/>
          </a:prstGeom>
          <a:solidFill>
            <a:srgbClr val="2BB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310896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2BB3A3"/>
                </a:solidFill>
                <a:latin typeface="Calibri"/>
              </a:rPr>
              <a:t>ЗАЧЕМ ЭТО НУЖНО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1B2A4A"/>
                </a:solidFill>
                <a:latin typeface="Calibri"/>
              </a:rPr>
              <a:t>Актуальность и проблема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A8F98"/>
                </a:solidFill>
                <a:latin typeface="Calibri"/>
              </a:rPr>
              <a:t>JointAdaSpec · Козин А.А. · КубГУ ФПМ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8A8F98"/>
                </a:solidFill>
                <a:latin typeface="Calibri"/>
              </a:rPr>
              <a:t>2 /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463040"/>
            <a:ext cx="10607040" cy="4846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00"/>
              </a:spcAft>
            </a:pPr>
            <a:r>
              <a:rPr sz="2200" b="1" i="0">
                <a:solidFill>
                  <a:srgbClr val="2BB3A3"/>
                </a:solidFill>
                <a:latin typeface="Calibri"/>
              </a:rPr>
              <a:t>—  </a:t>
            </a:r>
            <a:r>
              <a:rPr sz="2200" b="0" i="0">
                <a:solidFill>
                  <a:srgbClr val="1F2430"/>
                </a:solidFill>
                <a:latin typeface="Calibri"/>
              </a:rPr>
              <a:t>Стоимость LLM сместилась на инференс — 60–90 % полной стоимости жизненного цикла модели.</a:t>
            </a:r>
          </a:p>
          <a:p>
            <a:pPr>
              <a:spcAft>
                <a:spcPts val="1600"/>
              </a:spcAft>
            </a:pPr>
            <a:r>
              <a:rPr sz="2200" b="1" i="0">
                <a:solidFill>
                  <a:srgbClr val="2BB3A3"/>
                </a:solidFill>
                <a:latin typeface="Calibri"/>
              </a:rPr>
              <a:t>—  </a:t>
            </a:r>
            <a:r>
              <a:rPr sz="2200" b="0" i="0">
                <a:solidFill>
                  <a:srgbClr val="1F2430"/>
                </a:solidFill>
                <a:latin typeface="Calibri"/>
              </a:rPr>
              <a:t>Авторегрессионная генерация: n последовательных непараллелизуемых проходов; режим, ограниченный памятью.</a:t>
            </a:r>
          </a:p>
          <a:p>
            <a:pPr>
              <a:spcAft>
                <a:spcPts val="1600"/>
              </a:spcAft>
            </a:pPr>
            <a:r>
              <a:rPr sz="2200" b="1" i="0">
                <a:solidFill>
                  <a:srgbClr val="2BB3A3"/>
                </a:solidFill>
                <a:latin typeface="Calibri"/>
              </a:rPr>
              <a:t>—  </a:t>
            </a:r>
            <a:r>
              <a:rPr sz="2200" b="0" i="0">
                <a:solidFill>
                  <a:srgbClr val="1F2430"/>
                </a:solidFill>
                <a:latin typeface="Calibri"/>
              </a:rPr>
              <a:t>Спекулятивное декодирование (SD) — промышленный стандарт ускорения (vLLM, TensorRT-LLM).</a:t>
            </a:r>
          </a:p>
          <a:p>
            <a:pPr>
              <a:spcAft>
                <a:spcPts val="1600"/>
              </a:spcAft>
            </a:pPr>
            <a:r>
              <a:rPr sz="2200" b="1" i="0">
                <a:solidFill>
                  <a:srgbClr val="2BB3A3"/>
                </a:solidFill>
                <a:latin typeface="Calibri"/>
              </a:rPr>
              <a:t>—  </a:t>
            </a:r>
            <a:r>
              <a:rPr sz="2200" b="1" i="0">
                <a:solidFill>
                  <a:srgbClr val="1B2A4A"/>
                </a:solidFill>
                <a:latin typeface="Calibri"/>
              </a:rPr>
              <a:t>Проблема: длина черновика γ и порог верификации T фиксированы и неадаптивны.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078992"/>
            <a:ext cx="3840480" cy="45720"/>
          </a:xfrm>
          <a:prstGeom prst="rect">
            <a:avLst/>
          </a:prstGeom>
          <a:solidFill>
            <a:srgbClr val="2BB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310896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2BB3A3"/>
                </a:solidFill>
                <a:latin typeface="Calibri"/>
              </a:rPr>
              <a:t>БАЗОВЫЙ МЕХАНИЗМ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1B2A4A"/>
                </a:solidFill>
                <a:latin typeface="Calibri"/>
              </a:rPr>
              <a:t>Спекулятивное декодирование: идея и две оси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A8F98"/>
                </a:solidFill>
                <a:latin typeface="Calibri"/>
              </a:rPr>
              <a:t>JointAdaSpec · Козин А.А. · КубГУ ФПМ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8A8F98"/>
                </a:solidFill>
                <a:latin typeface="Calibri"/>
              </a:rPr>
              <a:t>3 /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417320"/>
            <a:ext cx="10607040" cy="4892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100" b="1" i="0">
                <a:solidFill>
                  <a:srgbClr val="2BB3A3"/>
                </a:solidFill>
                <a:latin typeface="Calibri"/>
              </a:rPr>
              <a:t>—  </a:t>
            </a:r>
            <a:r>
              <a:rPr sz="2100" b="0" i="0">
                <a:solidFill>
                  <a:srgbClr val="1F2430"/>
                </a:solidFill>
                <a:latin typeface="Calibri"/>
              </a:rPr>
              <a:t>Дешёвая черновая модель предлагает блок токенов; дорогая целевая проверяет его за один проход.</a:t>
            </a:r>
          </a:p>
          <a:p>
            <a:pPr>
              <a:spcAft>
                <a:spcPts val="1200"/>
              </a:spcAft>
            </a:pPr>
            <a:r>
              <a:rPr sz="2100" b="1" i="0">
                <a:solidFill>
                  <a:srgbClr val="2BB3A3"/>
                </a:solidFill>
                <a:latin typeface="Calibri"/>
              </a:rPr>
              <a:t>—  </a:t>
            </a:r>
            <a:r>
              <a:rPr sz="2100" b="0" i="0">
                <a:solidFill>
                  <a:srgbClr val="1F2430"/>
                </a:solidFill>
                <a:latin typeface="Calibri"/>
              </a:rPr>
              <a:t>Modified rejection sampling гарантирует точное распределение — без потерь качества при T = 1.</a:t>
            </a:r>
          </a:p>
          <a:p>
            <a:pPr>
              <a:spcAft>
                <a:spcPts val="1200"/>
              </a:spcAft>
            </a:pPr>
            <a:r>
              <a:rPr sz="2100" b="1" i="0">
                <a:solidFill>
                  <a:srgbClr val="2BB3A3"/>
                </a:solidFill>
                <a:latin typeface="Calibri"/>
              </a:rPr>
              <a:t>—  </a:t>
            </a:r>
            <a:r>
              <a:rPr sz="2100" b="1" i="0">
                <a:solidFill>
                  <a:srgbClr val="1B2A4A"/>
                </a:solidFill>
                <a:latin typeface="Calibri"/>
              </a:rPr>
              <a:t>Две независимые оси управления: длина черновика γ и порог верификации 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69567" y="3977639"/>
            <a:ext cx="2743200" cy="914400"/>
          </a:xfrm>
          <a:prstGeom prst="roundRect">
            <a:avLst/>
          </a:prstGeom>
          <a:solidFill>
            <a:srgbClr val="F2F4F7"/>
          </a:solidFill>
          <a:ln w="15875">
            <a:solidFill>
              <a:srgbClr val="2BB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500" b="1">
                <a:solidFill>
                  <a:srgbClr val="1B2A4A"/>
                </a:solidFill>
                <a:latin typeface="Calibri"/>
              </a:rPr>
              <a:t>Черновик q:
блок γ токенов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349343" y="4315968"/>
            <a:ext cx="338328" cy="237744"/>
          </a:xfrm>
          <a:prstGeom prst="rightArrow">
            <a:avLst/>
          </a:prstGeom>
          <a:solidFill>
            <a:srgbClr val="2BB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24247" y="3977639"/>
            <a:ext cx="2743200" cy="914400"/>
          </a:xfrm>
          <a:prstGeom prst="roundRect">
            <a:avLst/>
          </a:prstGeom>
          <a:solidFill>
            <a:srgbClr val="F2F4F7"/>
          </a:solidFill>
          <a:ln w="15875">
            <a:solidFill>
              <a:srgbClr val="2BB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500" b="1">
                <a:solidFill>
                  <a:srgbClr val="1B2A4A"/>
                </a:solidFill>
                <a:latin typeface="Calibri"/>
              </a:rPr>
              <a:t>Целевая p:
проверка за 1 проход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504023" y="4315968"/>
            <a:ext cx="338328" cy="237744"/>
          </a:xfrm>
          <a:prstGeom prst="rightArrow">
            <a:avLst/>
          </a:prstGeom>
          <a:solidFill>
            <a:srgbClr val="2BB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878927" y="3977639"/>
            <a:ext cx="2743200" cy="914400"/>
          </a:xfrm>
          <a:prstGeom prst="roundRect">
            <a:avLst/>
          </a:prstGeom>
          <a:solidFill>
            <a:srgbClr val="F2F4F7"/>
          </a:solidFill>
          <a:ln w="15875">
            <a:solidFill>
              <a:srgbClr val="2BB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500" b="1">
                <a:solidFill>
                  <a:srgbClr val="1B2A4A"/>
                </a:solidFill>
                <a:latin typeface="Calibri"/>
              </a:rPr>
              <a:t>Принятый префикс
+ ресемпл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2120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 i="1">
                <a:solidFill>
                  <a:srgbClr val="5A6172"/>
                </a:solidFill>
                <a:latin typeface="Calibri"/>
              </a:rPr>
              <a:t>Две «ручки» управления:  γ — сколько токенов предлагать   ·   T — насколько строго принимать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078992"/>
            <a:ext cx="3840480" cy="45720"/>
          </a:xfrm>
          <a:prstGeom prst="rect">
            <a:avLst/>
          </a:prstGeom>
          <a:solidFill>
            <a:srgbClr val="2BB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310896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2BB3A3"/>
                </a:solidFill>
                <a:latin typeface="Calibri"/>
              </a:rPr>
              <a:t>МЕСТО РАБОТЫ В ЛИТЕРАТУРЕ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1B2A4A"/>
                </a:solidFill>
                <a:latin typeface="Calibri"/>
              </a:rPr>
              <a:t>Сравнение методов и исследовательский пробел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A8F98"/>
                </a:solidFill>
                <a:latin typeface="Calibri"/>
              </a:rPr>
              <a:t>JointAdaSpec · Козин А.А. · КубГУ ФПМ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8A8F98"/>
                </a:solidFill>
                <a:latin typeface="Calibri"/>
              </a:rPr>
              <a:t>4 / 14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005840" y="1600200"/>
          <a:ext cx="10149837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468879"/>
                <a:gridCol w="2468879"/>
                <a:gridCol w="2468879"/>
              </a:tblGrid>
              <a:tr h="8229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Длина: фиксир.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Длина: эвристич.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Длина: обучаемая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B2A4A"/>
                          </a:solidFill>
                          <a:latin typeface="Calibri"/>
                        </a:rPr>
                        <a:t>Вериф.: строгая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430"/>
                          </a:solidFill>
                          <a:latin typeface="Calibri"/>
                        </a:rPr>
                        <a:t>классич. SD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430"/>
                          </a:solidFill>
                          <a:latin typeface="Calibri"/>
                        </a:rPr>
                        <a:t>DISCO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430"/>
                          </a:solidFill>
                          <a:latin typeface="Calibri"/>
                        </a:rPr>
                        <a:t>SpecDec++, SVIP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B2A4A"/>
                          </a:solidFill>
                          <a:latin typeface="Calibri"/>
                        </a:rPr>
                        <a:t>Вериф.: ослабл. фикс.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430"/>
                          </a:solidFill>
                          <a:latin typeface="Calibri"/>
                        </a:rPr>
                        <a:t>AutoJudge, Fuzzy SD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43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43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B2A4A"/>
                          </a:solidFill>
                          <a:latin typeface="Calibri"/>
                        </a:rPr>
                        <a:t>Вериф.: ослабл. адаптивн.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430"/>
                          </a:solidFill>
                          <a:latin typeface="Calibri"/>
                        </a:rPr>
                        <a:t>MARS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43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JointAdaSpec ★</a:t>
                      </a:r>
                    </a:p>
                  </a:txBody>
                  <a:tcPr>
                    <a:solidFill>
                      <a:srgbClr val="2BB3A3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005840" y="5212080"/>
            <a:ext cx="10149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0" i="0">
                <a:solidFill>
                  <a:srgbClr val="1F2430"/>
                </a:solidFill>
                <a:latin typeface="Calibri"/>
              </a:rPr>
              <a:t>Существующие методы адаптируют ровно одну ось. Пустая клетка </a:t>
            </a:r>
            <a:r>
              <a:rPr sz="1800" b="1" i="0">
                <a:solidFill>
                  <a:srgbClr val="1B2A4A"/>
                </a:solidFill>
                <a:latin typeface="Calibri"/>
              </a:rPr>
              <a:t>«обучаемая длина × адаптивная верификация»</a:t>
            </a:r>
            <a:r>
              <a:rPr sz="1800" b="0" i="0">
                <a:solidFill>
                  <a:srgbClr val="1F2430"/>
                </a:solidFill>
                <a:latin typeface="Calibri"/>
              </a:rPr>
              <a:t> — её закрывает JointAdaSpec.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078992"/>
            <a:ext cx="3840480" cy="45720"/>
          </a:xfrm>
          <a:prstGeom prst="rect">
            <a:avLst/>
          </a:prstGeom>
          <a:solidFill>
            <a:srgbClr val="2BB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310896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2BB3A3"/>
                </a:solidFill>
                <a:latin typeface="Calibri"/>
              </a:rPr>
              <a:t>ПОСТАНОВКА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1B2A4A"/>
                </a:solidFill>
                <a:latin typeface="Calibri"/>
              </a:rPr>
              <a:t>Цель и задачи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A8F98"/>
                </a:solidFill>
                <a:latin typeface="Calibri"/>
              </a:rPr>
              <a:t>JointAdaSpec · Козин А.А. · КубГУ ФПМ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8A8F98"/>
                </a:solidFill>
                <a:latin typeface="Calibri"/>
              </a:rPr>
              <a:t>5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417320"/>
            <a:ext cx="10607040" cy="1051560"/>
          </a:xfrm>
          <a:prstGeom prst="roundRect">
            <a:avLst/>
          </a:prstGeom>
          <a:solidFill>
            <a:srgbClr val="F2F4F7"/>
          </a:solidFill>
          <a:ln w="15875">
            <a:solidFill>
              <a:srgbClr val="2BB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2000" b="1" i="0">
                <a:solidFill>
                  <a:srgbClr val="1B2A4A"/>
                </a:solidFill>
                <a:latin typeface="Calibri"/>
              </a:rPr>
              <a:t>Цель: </a:t>
            </a:r>
            <a:r>
              <a:rPr sz="2000" b="0" i="0">
                <a:solidFill>
                  <a:srgbClr val="1F2430"/>
                </a:solidFill>
                <a:latin typeface="Calibri"/>
              </a:rPr>
              <a:t>метод адаптивного спекулятивного декодирования, совместно управляющий парой (длина черновика, порог верификации) как задачей оптимального управления.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788920"/>
            <a:ext cx="1051560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2200" b="1" i="0">
                <a:solidFill>
                  <a:srgbClr val="2BB3A3"/>
                </a:solidFill>
                <a:latin typeface="Calibri"/>
              </a:rPr>
              <a:t>1.  </a:t>
            </a:r>
            <a:r>
              <a:rPr sz="2100" b="0" i="0">
                <a:solidFill>
                  <a:srgbClr val="1F2430"/>
                </a:solidFill>
                <a:latin typeface="Calibri"/>
              </a:rPr>
              <a:t>Анализ методов ускорения инференса и точная формулировка исследовательского пробела.</a:t>
            </a:r>
          </a:p>
          <a:p>
            <a:pPr>
              <a:spcAft>
                <a:spcPts val="1400"/>
              </a:spcAft>
            </a:pPr>
            <a:r>
              <a:rPr sz="2200" b="1" i="0">
                <a:solidFill>
                  <a:srgbClr val="2BB3A3"/>
                </a:solidFill>
                <a:latin typeface="Calibri"/>
              </a:rPr>
              <a:t>2.  </a:t>
            </a:r>
            <a:r>
              <a:rPr sz="2100" b="0" i="0">
                <a:solidFill>
                  <a:srgbClr val="1F2430"/>
                </a:solidFill>
                <a:latin typeface="Calibri"/>
              </a:rPr>
              <a:t>MDP-модель совместного управления и её теоретический анализ.</a:t>
            </a:r>
          </a:p>
          <a:p>
            <a:pPr>
              <a:spcAft>
                <a:spcPts val="1400"/>
              </a:spcAft>
            </a:pPr>
            <a:r>
              <a:rPr sz="2200" b="1" i="0">
                <a:solidFill>
                  <a:srgbClr val="2BB3A3"/>
                </a:solidFill>
                <a:latin typeface="Calibri"/>
              </a:rPr>
              <a:t>3.  </a:t>
            </a:r>
            <a:r>
              <a:rPr sz="2100" b="0" i="0">
                <a:solidFill>
                  <a:srgbClr val="1F2430"/>
                </a:solidFill>
                <a:latin typeface="Calibri"/>
              </a:rPr>
              <a:t>Воспроизводимый программный комплекс.</a:t>
            </a:r>
          </a:p>
          <a:p>
            <a:pPr>
              <a:spcAft>
                <a:spcPts val="1400"/>
              </a:spcAft>
            </a:pPr>
            <a:r>
              <a:rPr sz="2200" b="1" i="0">
                <a:solidFill>
                  <a:srgbClr val="2BB3A3"/>
                </a:solidFill>
                <a:latin typeface="Calibri"/>
              </a:rPr>
              <a:t>4.  </a:t>
            </a:r>
            <a:r>
              <a:rPr sz="2100" b="0" i="0">
                <a:solidFill>
                  <a:srgbClr val="1F2430"/>
                </a:solidFill>
                <a:latin typeface="Calibri"/>
              </a:rPr>
              <a:t>Экспериментальная оценка и установление границ применимости.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078992"/>
            <a:ext cx="3840480" cy="45720"/>
          </a:xfrm>
          <a:prstGeom prst="rect">
            <a:avLst/>
          </a:prstGeom>
          <a:solidFill>
            <a:srgbClr val="2BB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310896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2BB3A3"/>
                </a:solidFill>
                <a:latin typeface="Calibri"/>
              </a:rPr>
              <a:t>ЧТО СДЕЛАНО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1B2A4A"/>
                </a:solidFill>
                <a:latin typeface="Calibri"/>
              </a:rPr>
              <a:t>Метод JointAdaSpec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A8F98"/>
                </a:solidFill>
                <a:latin typeface="Calibri"/>
              </a:rPr>
              <a:t>JointAdaSpec · Козин А.А. · КубГУ ФПМ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8A8F98"/>
                </a:solidFill>
                <a:latin typeface="Calibri"/>
              </a:rPr>
              <a:t>6 /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371600"/>
            <a:ext cx="10607040" cy="4937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000" b="1" i="0">
                <a:solidFill>
                  <a:srgbClr val="2BB3A3"/>
                </a:solidFill>
                <a:latin typeface="Calibri"/>
              </a:rPr>
              <a:t>—  </a:t>
            </a:r>
            <a:r>
              <a:rPr sz="2000" b="0" i="0">
                <a:solidFill>
                  <a:srgbClr val="1F2430"/>
                </a:solidFill>
                <a:latin typeface="Calibri"/>
              </a:rPr>
              <a:t>Каждый цикл декодирования = выбор действия в дискретном MDP (S, A, P, r, λ).</a:t>
            </a:r>
          </a:p>
          <a:p>
            <a:pPr>
              <a:spcAft>
                <a:spcPts val="900"/>
              </a:spcAft>
            </a:pPr>
            <a:r>
              <a:rPr sz="2000" b="1" i="0">
                <a:solidFill>
                  <a:srgbClr val="2BB3A3"/>
                </a:solidFill>
                <a:latin typeface="Calibri"/>
              </a:rPr>
              <a:t>—  </a:t>
            </a:r>
            <a:r>
              <a:rPr sz="2000" b="0" i="0">
                <a:solidFill>
                  <a:srgbClr val="1F2430"/>
                </a:solidFill>
                <a:latin typeface="Calibri"/>
              </a:rPr>
              <a:t>Состояние s = (энтропия черновика H, дивергенция K = KL(q‖p), позиция k).</a:t>
            </a:r>
          </a:p>
          <a:p>
            <a:pPr>
              <a:spcAft>
                <a:spcPts val="900"/>
              </a:spcAft>
            </a:pPr>
            <a:r>
              <a:rPr sz="2000" b="1" i="0">
                <a:solidFill>
                  <a:srgbClr val="2BB3A3"/>
                </a:solidFill>
                <a:latin typeface="Calibri"/>
              </a:rPr>
              <a:t>—  </a:t>
            </a:r>
            <a:r>
              <a:rPr sz="2000" b="0" i="0">
                <a:solidFill>
                  <a:srgbClr val="1F2430"/>
                </a:solidFill>
                <a:latin typeface="Calibri"/>
              </a:rPr>
              <a:t>Действие a ∈ {continue} ∪ {verify@T}; |S| = 3600, |A| = 9.</a:t>
            </a:r>
          </a:p>
          <a:p>
            <a:pPr>
              <a:spcAft>
                <a:spcPts val="900"/>
              </a:spcAft>
            </a:pPr>
            <a:r>
              <a:rPr sz="2000" b="1" i="0">
                <a:solidFill>
                  <a:srgbClr val="2BB3A3"/>
                </a:solidFill>
                <a:latin typeface="Calibri"/>
              </a:rPr>
              <a:t>—  </a:t>
            </a:r>
            <a:r>
              <a:rPr sz="2000" b="0" i="0">
                <a:solidFill>
                  <a:srgbClr val="1F2430"/>
                </a:solidFill>
                <a:latin typeface="Calibri"/>
              </a:rPr>
              <a:t>Награда r = η − κ·D: скорость минус штраф за качество; решение — value iteration, λ = 0,99.</a:t>
            </a:r>
          </a:p>
          <a:p>
            <a:pPr>
              <a:spcAft>
                <a:spcPts val="900"/>
              </a:spcAft>
            </a:pPr>
            <a:r>
              <a:rPr sz="2000" b="1" i="0">
                <a:solidFill>
                  <a:srgbClr val="2BB3A3"/>
                </a:solidFill>
                <a:latin typeface="Calibri"/>
              </a:rPr>
              <a:t>—  </a:t>
            </a:r>
            <a:r>
              <a:rPr sz="2000" b="1" i="0">
                <a:solidFill>
                  <a:srgbClr val="1B2A4A"/>
                </a:solidFill>
                <a:latin typeface="Calibri"/>
              </a:rPr>
              <a:t>Политика — таблица ≈ 2 КБ, поиск O(1) на шаг, без обучения нейросетей.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69567" y="5074920"/>
            <a:ext cx="2743200" cy="868680"/>
          </a:xfrm>
          <a:prstGeom prst="roundRect">
            <a:avLst/>
          </a:prstGeom>
          <a:solidFill>
            <a:srgbClr val="F2F4F7"/>
          </a:solidFill>
          <a:ln w="15875">
            <a:solidFill>
              <a:srgbClr val="2BB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500" b="1">
                <a:solidFill>
                  <a:srgbClr val="1B2A4A"/>
                </a:solidFill>
                <a:latin typeface="Calibri"/>
              </a:rPr>
              <a:t>Состояние
(H, K, k)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349343" y="5390388"/>
            <a:ext cx="338328" cy="237744"/>
          </a:xfrm>
          <a:prstGeom prst="rightArrow">
            <a:avLst/>
          </a:prstGeom>
          <a:solidFill>
            <a:srgbClr val="2BB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24247" y="5074920"/>
            <a:ext cx="2743200" cy="868680"/>
          </a:xfrm>
          <a:prstGeom prst="roundRect">
            <a:avLst/>
          </a:prstGeom>
          <a:solidFill>
            <a:srgbClr val="F2F4F7"/>
          </a:solidFill>
          <a:ln w="15875">
            <a:solidFill>
              <a:srgbClr val="2BB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500" b="1">
                <a:solidFill>
                  <a:srgbClr val="1B2A4A"/>
                </a:solidFill>
                <a:latin typeface="Calibri"/>
              </a:rPr>
              <a:t>Политика-таблица
(value iteration)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504023" y="5390388"/>
            <a:ext cx="338328" cy="237744"/>
          </a:xfrm>
          <a:prstGeom prst="rightArrow">
            <a:avLst/>
          </a:prstGeom>
          <a:solidFill>
            <a:srgbClr val="2BB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878927" y="5074920"/>
            <a:ext cx="2743200" cy="868680"/>
          </a:xfrm>
          <a:prstGeom prst="roundRect">
            <a:avLst/>
          </a:prstGeom>
          <a:solidFill>
            <a:srgbClr val="F2F4F7"/>
          </a:solidFill>
          <a:ln w="15875">
            <a:solidFill>
              <a:srgbClr val="2BB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500" b="1">
                <a:solidFill>
                  <a:srgbClr val="1B2A4A"/>
                </a:solidFill>
                <a:latin typeface="Calibri"/>
              </a:rPr>
              <a:t>Действие
continue/verify@T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078992"/>
            <a:ext cx="3840480" cy="45720"/>
          </a:xfrm>
          <a:prstGeom prst="rect">
            <a:avLst/>
          </a:prstGeom>
          <a:solidFill>
            <a:srgbClr val="2BB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310896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2BB3A3"/>
                </a:solidFill>
                <a:latin typeface="Calibri"/>
              </a:rPr>
              <a:t>ШЕСТЬ РЕЗУЛЬТАТОВ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1B2A4A"/>
                </a:solidFill>
                <a:latin typeface="Calibri"/>
              </a:rPr>
              <a:t>Теоретические результаты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A8F98"/>
                </a:solidFill>
                <a:latin typeface="Calibri"/>
              </a:rPr>
              <a:t>JointAdaSpec · Козин А.А. · КубГУ ФПМ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8A8F98"/>
                </a:solidFill>
                <a:latin typeface="Calibri"/>
              </a:rPr>
              <a:t>7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554480"/>
            <a:ext cx="5074920" cy="1234440"/>
          </a:xfrm>
          <a:prstGeom prst="roundRect">
            <a:avLst/>
          </a:prstGeom>
          <a:solidFill>
            <a:srgbClr val="F2F4F7"/>
          </a:solidFill>
          <a:ln w="15875">
            <a:solidFill>
              <a:srgbClr val="8A8F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/>
          <a:lstStyle/>
          <a:p>
            <a:pPr algn="ctr"/>
            <a:r>
              <a:rPr sz="1600" b="1" i="0">
                <a:solidFill>
                  <a:srgbClr val="1B2A4A"/>
                </a:solidFill>
                <a:latin typeface="Calibri"/>
              </a:rPr>
              <a:t>Теорема A. </a:t>
            </a:r>
            <a:r>
              <a:rPr sz="1500" b="0" i="0">
                <a:solidFill>
                  <a:srgbClr val="1F2430"/>
                </a:solidFill>
                <a:latin typeface="Calibri"/>
              </a:rPr>
              <a:t>Выборочная сложность оценщика переходов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54480"/>
            <a:ext cx="5074920" cy="1234440"/>
          </a:xfrm>
          <a:prstGeom prst="roundRect">
            <a:avLst/>
          </a:prstGeom>
          <a:solidFill>
            <a:srgbClr val="F2F4F7"/>
          </a:solidFill>
          <a:ln w="15875">
            <a:solidFill>
              <a:srgbClr val="8A8F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/>
          <a:lstStyle/>
          <a:p>
            <a:pPr algn="ctr"/>
            <a:r>
              <a:rPr sz="1600" b="1" i="0">
                <a:solidFill>
                  <a:srgbClr val="1B2A4A"/>
                </a:solidFill>
                <a:latin typeface="Calibri"/>
              </a:rPr>
              <a:t>Теорема B. </a:t>
            </a:r>
            <a:r>
              <a:rPr sz="1500" b="0" i="0">
                <a:solidFill>
                  <a:srgbClr val="1F2430"/>
                </a:solidFill>
                <a:latin typeface="Calibri"/>
              </a:rPr>
              <a:t>исправленная reward-shaping формулировка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108960"/>
            <a:ext cx="5074920" cy="1234440"/>
          </a:xfrm>
          <a:prstGeom prst="roundRect">
            <a:avLst/>
          </a:prstGeom>
          <a:solidFill>
            <a:srgbClr val="F2F4F7"/>
          </a:solidFill>
          <a:ln w="15875">
            <a:solidFill>
              <a:srgbClr val="8A8F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/>
          <a:lstStyle/>
          <a:p>
            <a:pPr algn="ctr"/>
            <a:r>
              <a:rPr sz="1600" b="1" i="0">
                <a:solidFill>
                  <a:srgbClr val="1B2A4A"/>
                </a:solidFill>
                <a:latin typeface="Calibri"/>
              </a:rPr>
              <a:t>Теорема C. </a:t>
            </a:r>
            <a:r>
              <a:rPr sz="1500" b="0" i="0">
                <a:solidFill>
                  <a:srgbClr val="1F2430"/>
                </a:solidFill>
                <a:latin typeface="Calibri"/>
              </a:rPr>
              <a:t>Оценка субоптимальности каскада через массу нарушения μ*_J(B)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108960"/>
            <a:ext cx="5074920" cy="1234440"/>
          </a:xfrm>
          <a:prstGeom prst="roundRect">
            <a:avLst/>
          </a:prstGeom>
          <a:solidFill>
            <a:srgbClr val="1B2A4A"/>
          </a:solidFill>
          <a:ln w="15875">
            <a:solidFill>
              <a:srgbClr val="2BB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/>
          <a:lstStyle/>
          <a:p>
            <a:pPr algn="ctr"/>
            <a:r>
              <a:rPr sz="1600" b="1" i="0">
                <a:solidFill>
                  <a:srgbClr val="2BB3A3"/>
                </a:solidFill>
                <a:latin typeface="Calibri"/>
              </a:rPr>
              <a:t>Теорема D. </a:t>
            </a:r>
            <a:r>
              <a:rPr sz="1500" b="0" i="0">
                <a:solidFill>
                  <a:srgbClr val="FFFFFF"/>
                </a:solidFill>
                <a:latin typeface="Calibri"/>
              </a:rPr>
              <a:t>Точный разрыв ценности совместной и каскадной политик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663440"/>
            <a:ext cx="5074920" cy="1234440"/>
          </a:xfrm>
          <a:prstGeom prst="roundRect">
            <a:avLst/>
          </a:prstGeom>
          <a:solidFill>
            <a:srgbClr val="F2F4F7"/>
          </a:solidFill>
          <a:ln w="15875">
            <a:solidFill>
              <a:srgbClr val="8A8F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/>
          <a:lstStyle/>
          <a:p>
            <a:pPr algn="ctr"/>
            <a:r>
              <a:rPr sz="1600" b="1" i="0">
                <a:solidFill>
                  <a:srgbClr val="1B2A4A"/>
                </a:solidFill>
                <a:latin typeface="Calibri"/>
              </a:rPr>
              <a:t>Теорема 2.3. </a:t>
            </a:r>
            <a:r>
              <a:rPr sz="1500" b="0" i="0">
                <a:solidFill>
                  <a:srgbClr val="1F2430"/>
                </a:solidFill>
                <a:latin typeface="Calibri"/>
              </a:rPr>
              <a:t>Слабое доминирование совместной политики над каскадной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663440"/>
            <a:ext cx="5074920" cy="1234440"/>
          </a:xfrm>
          <a:prstGeom prst="roundRect">
            <a:avLst/>
          </a:prstGeom>
          <a:solidFill>
            <a:srgbClr val="F2F4F7"/>
          </a:solidFill>
          <a:ln w="15875">
            <a:solidFill>
              <a:srgbClr val="8A8F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/>
          <a:lstStyle/>
          <a:p>
            <a:pPr algn="ctr"/>
            <a:r>
              <a:rPr sz="1600" b="1" i="0">
                <a:solidFill>
                  <a:srgbClr val="1B2A4A"/>
                </a:solidFill>
                <a:latin typeface="Calibri"/>
              </a:rPr>
              <a:t>Теорема 2.4. </a:t>
            </a:r>
            <a:r>
              <a:rPr sz="1500" b="0" i="0">
                <a:solidFill>
                  <a:srgbClr val="1F2430"/>
                </a:solidFill>
                <a:latin typeface="Calibri"/>
              </a:rPr>
              <a:t>Скаляризация Парето-фронта по коэффициенту κ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078992"/>
            <a:ext cx="3840480" cy="45720"/>
          </a:xfrm>
          <a:prstGeom prst="rect">
            <a:avLst/>
          </a:prstGeom>
          <a:solidFill>
            <a:srgbClr val="2BB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310896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2BB3A3"/>
                </a:solidFill>
                <a:latin typeface="Calibri"/>
              </a:rPr>
              <a:t>ИНЖЕНЕРНАЯ ЧАСТЬ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1B2A4A"/>
                </a:solidFill>
                <a:latin typeface="Calibri"/>
              </a:rPr>
              <a:t>Программная реализация и воспроизводимость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A8F98"/>
                </a:solidFill>
                <a:latin typeface="Calibri"/>
              </a:rPr>
              <a:t>JointAdaSpec · Козин А.А. · КубГУ ФПМ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8A8F98"/>
                </a:solidFill>
                <a:latin typeface="Calibri"/>
              </a:rPr>
              <a:t>8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75207" y="1554480"/>
            <a:ext cx="2286000" cy="914400"/>
          </a:xfrm>
          <a:prstGeom prst="roundRect">
            <a:avLst/>
          </a:prstGeom>
          <a:solidFill>
            <a:srgbClr val="F2F4F7"/>
          </a:solidFill>
          <a:ln w="15875">
            <a:solidFill>
              <a:srgbClr val="2BB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500" b="1">
                <a:solidFill>
                  <a:srgbClr val="1B2A4A"/>
                </a:solidFill>
                <a:latin typeface="Calibri"/>
              </a:rPr>
              <a:t>01
Сбор трейсов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297783" y="1892808"/>
            <a:ext cx="292608" cy="237744"/>
          </a:xfrm>
          <a:prstGeom prst="rightArrow">
            <a:avLst/>
          </a:prstGeom>
          <a:solidFill>
            <a:srgbClr val="2BB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26967" y="1554480"/>
            <a:ext cx="2286000" cy="914400"/>
          </a:xfrm>
          <a:prstGeom prst="roundRect">
            <a:avLst/>
          </a:prstGeom>
          <a:solidFill>
            <a:srgbClr val="F2F4F7"/>
          </a:solidFill>
          <a:ln w="15875">
            <a:solidFill>
              <a:srgbClr val="2BB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500" b="1">
                <a:solidFill>
                  <a:srgbClr val="1B2A4A"/>
                </a:solidFill>
                <a:latin typeface="Calibri"/>
              </a:rPr>
              <a:t>02
Решение MDP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949543" y="1892808"/>
            <a:ext cx="292608" cy="237744"/>
          </a:xfrm>
          <a:prstGeom prst="rightArrow">
            <a:avLst/>
          </a:prstGeom>
          <a:solidFill>
            <a:srgbClr val="2BB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78727" y="1554480"/>
            <a:ext cx="2286000" cy="914400"/>
          </a:xfrm>
          <a:prstGeom prst="roundRect">
            <a:avLst/>
          </a:prstGeom>
          <a:solidFill>
            <a:srgbClr val="F2F4F7"/>
          </a:solidFill>
          <a:ln w="15875">
            <a:solidFill>
              <a:srgbClr val="2BB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500" b="1">
                <a:solidFill>
                  <a:srgbClr val="1B2A4A"/>
                </a:solidFill>
                <a:latin typeface="Calibri"/>
              </a:rPr>
              <a:t>03
Бенчмарк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601303" y="1892808"/>
            <a:ext cx="292608" cy="237744"/>
          </a:xfrm>
          <a:prstGeom prst="rightArrow">
            <a:avLst/>
          </a:prstGeom>
          <a:solidFill>
            <a:srgbClr val="2BB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930487" y="1554480"/>
            <a:ext cx="2286000" cy="914400"/>
          </a:xfrm>
          <a:prstGeom prst="roundRect">
            <a:avLst/>
          </a:prstGeom>
          <a:solidFill>
            <a:srgbClr val="F2F4F7"/>
          </a:solidFill>
          <a:ln w="15875">
            <a:solidFill>
              <a:srgbClr val="2BB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500" b="1">
                <a:solidFill>
                  <a:srgbClr val="1B2A4A"/>
                </a:solidFill>
                <a:latin typeface="Calibri"/>
              </a:rPr>
              <a:t>04
Проверка условий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971800"/>
            <a:ext cx="10607040" cy="3337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2100" b="1" i="0">
                <a:solidFill>
                  <a:srgbClr val="2BB3A3"/>
                </a:solidFill>
                <a:latin typeface="Calibri"/>
              </a:rPr>
              <a:t>—  </a:t>
            </a:r>
            <a:r>
              <a:rPr sz="2100" b="0" i="0">
                <a:solidFill>
                  <a:srgbClr val="1F2430"/>
                </a:solidFill>
                <a:latin typeface="Calibri"/>
              </a:rPr>
              <a:t>Стек: Python 3.12, PyTorch, scipy.sparse, Hydra; ядро покрыто 72 модульными тестами.</a:t>
            </a:r>
          </a:p>
          <a:p>
            <a:pPr>
              <a:spcAft>
                <a:spcPts val="1400"/>
              </a:spcAft>
            </a:pPr>
            <a:r>
              <a:rPr sz="2100" b="1" i="0">
                <a:solidFill>
                  <a:srgbClr val="2BB3A3"/>
                </a:solidFill>
                <a:latin typeface="Calibri"/>
              </a:rPr>
              <a:t>—  </a:t>
            </a:r>
            <a:r>
              <a:rPr sz="2100" b="0" i="0">
                <a:solidFill>
                  <a:srgbClr val="1F2430"/>
                </a:solidFill>
                <a:latin typeface="Calibri"/>
              </a:rPr>
              <a:t>Воспроизводимость: манифесты (git SHA, сиды [42, 43, 44], SHA256), детерминированные прогоны.</a:t>
            </a:r>
          </a:p>
          <a:p>
            <a:pPr>
              <a:spcAft>
                <a:spcPts val="1400"/>
              </a:spcAft>
            </a:pPr>
            <a:r>
              <a:rPr sz="2100" b="1" i="0">
                <a:solidFill>
                  <a:srgbClr val="2BB3A3"/>
                </a:solidFill>
                <a:latin typeface="Calibri"/>
              </a:rPr>
              <a:t>—  </a:t>
            </a:r>
            <a:r>
              <a:rPr sz="2100" b="0" i="0">
                <a:solidFill>
                  <a:srgbClr val="1F2430"/>
                </a:solidFill>
                <a:latin typeface="Calibri"/>
              </a:rPr>
              <a:t>Совместимость с инференс-фреймворками без переобучения базовых моделей.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078992"/>
            <a:ext cx="3840480" cy="45720"/>
          </a:xfrm>
          <a:prstGeom prst="rect">
            <a:avLst/>
          </a:prstGeom>
          <a:solidFill>
            <a:srgbClr val="2BB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310896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2BB3A3"/>
                </a:solidFill>
                <a:latin typeface="Calibri"/>
              </a:rPr>
              <a:t>PRE-REPAIR ARTIFACT · GSM8K · N = 1500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1B2A4A"/>
                </a:solidFill>
                <a:latin typeface="Calibri"/>
              </a:rPr>
              <a:t>Legacy evidence: пара 14B / 0.5B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A8F98"/>
                </a:solidFill>
                <a:latin typeface="Calibri"/>
              </a:rPr>
              <a:t>JointAdaSpec · Козин А.А. · КубГУ ФПМ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8A8F98"/>
                </a:solidFill>
                <a:latin typeface="Calibri"/>
              </a:rPr>
              <a:t>9 / 14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77240" y="1417320"/>
          <a:ext cx="7772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188720"/>
                <a:gridCol w="1188720"/>
                <a:gridCol w="1920240"/>
                <a:gridCol w="109728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Метод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EM, %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ток/с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Δ EM к target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2430"/>
                          </a:solidFill>
                          <a:latin typeface="Calibri"/>
                        </a:rPr>
                        <a:t>target_only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430"/>
                          </a:solidFill>
                          <a:latin typeface="Calibri"/>
                        </a:rPr>
                        <a:t>52,93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430"/>
                          </a:solidFill>
                          <a:latin typeface="Calibri"/>
                        </a:rPr>
                        <a:t>14,45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43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43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2430"/>
                          </a:solidFill>
                          <a:latin typeface="Calibri"/>
                        </a:rPr>
                        <a:t>speculative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430"/>
                          </a:solidFill>
                          <a:latin typeface="Calibri"/>
                        </a:rPr>
                        <a:t>53,27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430"/>
                          </a:solidFill>
                          <a:latin typeface="Calibri"/>
                        </a:rPr>
                        <a:t>4,88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430"/>
                          </a:solidFill>
                          <a:latin typeface="Calibri"/>
                        </a:rPr>
                        <a:t>+0,33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430"/>
                          </a:solidFill>
                          <a:latin typeface="Calibri"/>
                        </a:rPr>
                        <a:t>0,877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2430"/>
                          </a:solidFill>
                          <a:latin typeface="Calibri"/>
                        </a:rPr>
                        <a:t>cascade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430"/>
                          </a:solidFill>
                          <a:latin typeface="Calibri"/>
                        </a:rPr>
                        <a:t>57,13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430"/>
                          </a:solidFill>
                          <a:latin typeface="Calibri"/>
                        </a:rPr>
                        <a:t>10,29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430"/>
                          </a:solidFill>
                          <a:latin typeface="Calibri"/>
                        </a:rPr>
                        <a:t>+4,20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430"/>
                          </a:solidFill>
                          <a:latin typeface="Calibri"/>
                        </a:rPr>
                        <a:t>0,015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jointadaspec</a:t>
                      </a:r>
                    </a:p>
                  </a:txBody>
                  <a:tcPr>
                    <a:solidFill>
                      <a:srgbClr val="2BB3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57,00</a:t>
                      </a:r>
                    </a:p>
                  </a:txBody>
                  <a:tcPr>
                    <a:solidFill>
                      <a:srgbClr val="2BB3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10,84</a:t>
                      </a:r>
                    </a:p>
                  </a:txBody>
                  <a:tcPr>
                    <a:solidFill>
                      <a:srgbClr val="2BB3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+4,07</a:t>
                      </a:r>
                    </a:p>
                  </a:txBody>
                  <a:tcPr>
                    <a:solidFill>
                      <a:srgbClr val="2BB3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0,020</a:t>
                      </a:r>
                    </a:p>
                  </a:txBody>
                  <a:tcPr>
                    <a:solidFill>
                      <a:srgbClr val="2BB3A3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77240" y="3977639"/>
            <a:ext cx="5120640" cy="2194560"/>
          </a:xfrm>
          <a:prstGeom prst="roundRect">
            <a:avLst/>
          </a:prstGeom>
          <a:solidFill>
            <a:srgbClr val="F2F4F7"/>
          </a:solidFill>
          <a:ln w="15875">
            <a:solidFill>
              <a:srgbClr val="1E9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5000" b="1" i="0">
                <a:solidFill>
                  <a:srgbClr val="1E9E5A"/>
                </a:solidFill>
                <a:latin typeface="Calibri"/>
              </a:rPr>
              <a:t>+4,07 п.п.</a:t>
            </a:r>
          </a:p>
          <a:p>
            <a:pPr algn="ctr"/>
            <a:r>
              <a:rPr sz="1500" b="0" i="0">
                <a:solidFill>
                  <a:srgbClr val="1F2430"/>
                </a:solidFill>
                <a:latin typeface="Calibri"/>
              </a:rPr>
              <a:t>legacy EM к target (p = 0,0205)</a:t>
            </a:r>
          </a:p>
          <a:p>
            <a:pPr algn="ctr"/>
            <a:r>
              <a:rPr sz="2600" b="1" i="0">
                <a:solidFill>
                  <a:srgbClr val="1B2A4A"/>
                </a:solidFill>
                <a:latin typeface="Calibri"/>
              </a:rPr>
              <a:t>2,22× </a:t>
            </a:r>
            <a:r>
              <a:rPr sz="1400" b="0" i="0">
                <a:solidFill>
                  <a:srgbClr val="5A6172"/>
                </a:solidFill>
                <a:latin typeface="Calibri"/>
              </a:rPr>
              <a:t>пропускной способности (к ванильному SD)</a:t>
            </a:r>
          </a:p>
          <a:p>
            <a:pPr algn="ctr"/>
            <a:r>
              <a:rPr sz="1200" b="1" i="0">
                <a:solidFill>
                  <a:srgbClr val="B5852A"/>
                </a:solidFill>
                <a:latin typeface="Calibri"/>
              </a:rPr>
              <a:t>не финальный block-v1 claim без rerun</a:t>
            </a:r>
          </a:p>
        </p:txBody>
      </p:sp>
      <p:pic>
        <p:nvPicPr>
          <p:cNvPr id="11" name="Picture 10" descr="fig1_pare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9267" y="2834639"/>
            <a:ext cx="5755145" cy="2286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126480" y="5212080"/>
            <a:ext cx="5760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1">
                <a:solidFill>
                  <a:srgbClr val="5A6172"/>
                </a:solidFill>
                <a:latin typeface="Calibri"/>
              </a:rPr>
              <a:t>Парето-фронт: прямая генерация (target_only) — самая быстрая точка.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078992"/>
            <a:ext cx="3840480" cy="45720"/>
          </a:xfrm>
          <a:prstGeom prst="rect">
            <a:avLst/>
          </a:prstGeom>
          <a:solidFill>
            <a:srgbClr val="2BB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310896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2BB3A3"/>
                </a:solidFill>
                <a:latin typeface="Calibri"/>
              </a:rPr>
              <a:t>PRE-REPAIR ABLATION · N = 300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1B2A4A"/>
                </a:solidFill>
                <a:latin typeface="Calibri"/>
              </a:rPr>
              <a:t>Адаптивность нетривиальна: эксперимент 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A8F98"/>
                </a:solidFill>
                <a:latin typeface="Calibri"/>
              </a:rPr>
              <a:t>JointAdaSpec · Козин А.А. · КубГУ ФПМ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8A8F98"/>
                </a:solidFill>
                <a:latin typeface="Calibri"/>
              </a:rPr>
              <a:t>10 / 14</a:t>
            </a:r>
          </a:p>
        </p:txBody>
      </p:sp>
      <p:pic>
        <p:nvPicPr>
          <p:cNvPr id="9" name="Picture 8" descr="fig_E_adaptivity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767" y="1933034"/>
            <a:ext cx="10424160" cy="3449131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2194560" y="5623560"/>
            <a:ext cx="7772400" cy="868680"/>
          </a:xfrm>
          <a:prstGeom prst="roundRect">
            <a:avLst/>
          </a:prstGeom>
          <a:solidFill>
            <a:srgbClr val="F2F4F7"/>
          </a:solidFill>
          <a:ln w="15875">
            <a:solidFill>
              <a:srgbClr val="1E9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 i="0">
                <a:solidFill>
                  <a:srgbClr val="1F2430"/>
                </a:solidFill>
                <a:latin typeface="Calibri"/>
              </a:rPr>
              <a:t>JointAdaSpec точнее любого фиксированного T на </a:t>
            </a:r>
            <a:r>
              <a:rPr sz="1600" b="1" i="0">
                <a:solidFill>
                  <a:srgbClr val="1E9E5A"/>
                </a:solidFill>
                <a:latin typeface="Calibri"/>
              </a:rPr>
              <a:t>+4…+8 п.п.</a:t>
            </a:r>
            <a:r>
              <a:rPr sz="1600" b="0" i="0">
                <a:solidFill>
                  <a:srgbClr val="1F2430"/>
                </a:solidFill>
                <a:latin typeface="Calibri"/>
              </a:rPr>
              <a:t> EM и быстрее </a:t>
            </a:r>
            <a:r>
              <a:rPr sz="1600" b="1" i="0">
                <a:solidFill>
                  <a:srgbClr val="1B2A4A"/>
                </a:solidFill>
                <a:latin typeface="Calibri"/>
              </a:rPr>
              <a:t>≈ 3,7×</a:t>
            </a:r>
            <a:r>
              <a:rPr sz="1600" b="0" i="0">
                <a:solidFill>
                  <a:srgbClr val="1F2430"/>
                </a:solidFill>
                <a:latin typeface="Calibri"/>
              </a:rPr>
              <a:t> (11,12 против ≈ 3,0 ток/с).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6428232"/>
            <a:ext cx="7772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B5852A"/>
                </a:solidFill>
                <a:latin typeface="Calibri"/>
              </a:rPr>
              <a:t>Мотивационная ablation evidence; финальный block-v1 результат требует rerun.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078992"/>
            <a:ext cx="3840480" cy="45720"/>
          </a:xfrm>
          <a:prstGeom prst="rect">
            <a:avLst/>
          </a:prstGeom>
          <a:solidFill>
            <a:srgbClr val="2BB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310896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2BB3A3"/>
                </a:solidFill>
                <a:latin typeface="Calibri"/>
              </a:rPr>
              <a:t>ГРАНИЦЫ ПРИМЕНИМОСТИ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1B2A4A"/>
                </a:solidFill>
                <a:latin typeface="Calibri"/>
              </a:rPr>
              <a:t>Честная картина результатов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A8F98"/>
                </a:solidFill>
                <a:latin typeface="Calibri"/>
              </a:rPr>
              <a:t>JointAdaSpec · Козин А.А. · КубГУ ФПМ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8A8F98"/>
                </a:solidFill>
                <a:latin typeface="Calibri"/>
              </a:rPr>
              <a:t>11 /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417320"/>
            <a:ext cx="6675120" cy="4892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800" b="1" i="0">
                <a:solidFill>
                  <a:srgbClr val="2BB3A3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B5852A"/>
                </a:solidFill>
                <a:latin typeface="Calibri"/>
              </a:rPr>
              <a:t>joint ≈ cascade — статистическая ничья (Δ = −0,13 %, p = 0,96), ровно как предсказывает теорема D.</a:t>
            </a:r>
          </a:p>
          <a:p>
            <a:pPr>
              <a:spcAft>
                <a:spcPts val="1400"/>
              </a:spcAft>
            </a:pPr>
            <a:r>
              <a:rPr sz="1800" b="1" i="0">
                <a:solidFill>
                  <a:srgbClr val="2BB3A3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8A8F98"/>
                </a:solidFill>
                <a:latin typeface="Calibri"/>
              </a:rPr>
              <a:t>Прямая генерация (AR) — самый быстрый метод; «2,22×» — относительно ванильного SD, не AR.</a:t>
            </a:r>
          </a:p>
          <a:p>
            <a:pPr>
              <a:spcAft>
                <a:spcPts val="1400"/>
              </a:spcAft>
            </a:pPr>
            <a:r>
              <a:rPr sz="1800" b="1" i="0">
                <a:solidFill>
                  <a:srgbClr val="2BB3A3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B5852A"/>
                </a:solidFill>
                <a:latin typeface="Calibri"/>
              </a:rPr>
              <a:t>Пара 7B / 1.5B (4,7×) — нуль-результат, устойчивый по триангуляции на трёх независимых окнах.</a:t>
            </a:r>
          </a:p>
          <a:p>
            <a:pPr>
              <a:spcAft>
                <a:spcPts val="1400"/>
              </a:spcAft>
            </a:pPr>
            <a:r>
              <a:rPr sz="1800" b="1" i="0">
                <a:solidFill>
                  <a:srgbClr val="2BB3A3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8A8F98"/>
                </a:solidFill>
                <a:latin typeface="Calibri"/>
              </a:rPr>
              <a:t>Прирост качества немонотонен: +7,4 п.п. при умеренной доле принятий, −2,6 п.п. при высокой.</a:t>
            </a:r>
          </a:p>
        </p:txBody>
      </p:sp>
      <p:pic>
        <p:nvPicPr>
          <p:cNvPr id="10" name="Picture 9" descr="fig_bonus_kappa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828919"/>
            <a:ext cx="4206240" cy="25600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498079" y="4709160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5A6172"/>
                </a:solidFill>
                <a:latin typeface="Calibri"/>
              </a:rPr>
              <a:t>κ-развёртка: joint ≈ cascade на всём диапазоне.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943600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1B2A4A"/>
                </a:solidFill>
                <a:latin typeface="Calibri"/>
              </a:rPr>
              <a:t>Это не слабость изложения, а строгая характеризация области применимости.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078992"/>
            <a:ext cx="3840480" cy="45720"/>
          </a:xfrm>
          <a:prstGeom prst="rect">
            <a:avLst/>
          </a:prstGeom>
          <a:solidFill>
            <a:srgbClr val="2BB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310896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2BB3A3"/>
                </a:solidFill>
                <a:latin typeface="Calibri"/>
              </a:rPr>
              <a:t>ИТОГ РАБОТЫ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1B2A4A"/>
                </a:solidFill>
                <a:latin typeface="Calibri"/>
              </a:rPr>
              <a:t>Заключение и вклад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A8F98"/>
                </a:solidFill>
                <a:latin typeface="Calibri"/>
              </a:rPr>
              <a:t>JointAdaSpec · Козин А.А. · КубГУ ФПМ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8A8F98"/>
                </a:solidFill>
                <a:latin typeface="Calibri"/>
              </a:rPr>
              <a:t>12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508760"/>
            <a:ext cx="1554480" cy="960120"/>
          </a:xfrm>
          <a:prstGeom prst="roundRect">
            <a:avLst/>
          </a:prstGeom>
          <a:solidFill>
            <a:srgbClr val="2BB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Вклад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68880" y="1508760"/>
            <a:ext cx="8915400" cy="960120"/>
          </a:xfrm>
          <a:prstGeom prst="roundRect">
            <a:avLst/>
          </a:prstGeom>
          <a:solidFill>
            <a:srgbClr val="F2F4F7"/>
          </a:solidFill>
          <a:ln w="15875">
            <a:solidFill>
              <a:srgbClr val="8A8F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800" b="0" i="0">
                <a:solidFill>
                  <a:srgbClr val="1F2430"/>
                </a:solidFill>
                <a:latin typeface="Calibri"/>
              </a:rPr>
              <a:t>Единый MDP-фреймворк совместного управления (длина, порог) — одна из первых табличных постановок в литературе.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651760"/>
            <a:ext cx="1554480" cy="960120"/>
          </a:xfrm>
          <a:prstGeom prst="roundRect">
            <a:avLst/>
          </a:prstGeom>
          <a:solidFill>
            <a:srgbClr val="2BB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Вклад 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68880" y="2651760"/>
            <a:ext cx="8915400" cy="960120"/>
          </a:xfrm>
          <a:prstGeom prst="roundRect">
            <a:avLst/>
          </a:prstGeom>
          <a:solidFill>
            <a:srgbClr val="F2F4F7"/>
          </a:solidFill>
          <a:ln w="15875">
            <a:solidFill>
              <a:srgbClr val="8A8F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800" b="0" i="0">
                <a:solidFill>
                  <a:srgbClr val="1F2430"/>
                </a:solidFill>
                <a:latin typeface="Calibri"/>
              </a:rPr>
              <a:t>Теоретический аппарат A / B / C / D / 2.3 / 2.4 с доказательствами.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794760"/>
            <a:ext cx="1554480" cy="960120"/>
          </a:xfrm>
          <a:prstGeom prst="roundRect">
            <a:avLst/>
          </a:prstGeom>
          <a:solidFill>
            <a:srgbClr val="2BB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Вклад 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68880" y="3794760"/>
            <a:ext cx="8915400" cy="960120"/>
          </a:xfrm>
          <a:prstGeom prst="roundRect">
            <a:avLst/>
          </a:prstGeom>
          <a:solidFill>
            <a:srgbClr val="F2F4F7"/>
          </a:solidFill>
          <a:ln w="15875">
            <a:solidFill>
              <a:srgbClr val="8A8F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800" b="0" i="0">
                <a:solidFill>
                  <a:srgbClr val="1F2430"/>
                </a:solidFill>
                <a:latin typeface="Calibri"/>
              </a:rPr>
              <a:t>Честная эмпирическая характеризация: где адаптивность помогает, где нет и почему joint сводится к каскаду.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120640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1B2A4A"/>
                </a:solidFill>
                <a:latin typeface="Calibri"/>
              </a:rPr>
              <a:t>Направления: </a:t>
            </a:r>
            <a:r>
              <a:rPr sz="1600" b="0" i="0">
                <a:solidFill>
                  <a:srgbClr val="1F2430"/>
                </a:solidFill>
                <a:latin typeface="Calibri"/>
              </a:rPr>
              <a:t>древовидное обобщение, распределительные признаки состояния, GPU-резидентная политика.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078992"/>
            <a:ext cx="3840480" cy="45720"/>
          </a:xfrm>
          <a:prstGeom prst="rect">
            <a:avLst/>
          </a:prstGeom>
          <a:solidFill>
            <a:srgbClr val="2BB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310896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2BB3A3"/>
                </a:solidFill>
                <a:latin typeface="Calibri"/>
              </a:rPr>
              <a:t>ТЕЗИСЫ ЗАЩИТЫ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1B2A4A"/>
                </a:solidFill>
                <a:latin typeface="Calibri"/>
              </a:rPr>
              <a:t>Положения, выносимые на защиту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A8F98"/>
                </a:solidFill>
                <a:latin typeface="Calibri"/>
              </a:rPr>
              <a:t>JointAdaSpec · Козин А.А. · КубГУ ФПМ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8A8F98"/>
                </a:solidFill>
                <a:latin typeface="Calibri"/>
              </a:rPr>
              <a:t>13 /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463040"/>
            <a:ext cx="10607040" cy="4846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1900" b="1" i="0">
                <a:solidFill>
                  <a:srgbClr val="2BB3A3"/>
                </a:solidFill>
                <a:latin typeface="Calibri"/>
              </a:rPr>
              <a:t>1.  </a:t>
            </a:r>
            <a:r>
              <a:rPr sz="1800" b="0" i="0">
                <a:solidFill>
                  <a:srgbClr val="1F2430"/>
                </a:solidFill>
                <a:latin typeface="Calibri"/>
              </a:rPr>
              <a:t>Совместное управление (длина, порог) формализуемо как конечный MDP (≈ 3600 состояний), решаемый точно методом value iteration без обучения нейросетевых модулей.</a:t>
            </a:r>
          </a:p>
          <a:p>
            <a:pPr>
              <a:spcAft>
                <a:spcPts val="1300"/>
              </a:spcAft>
            </a:pPr>
            <a:r>
              <a:rPr sz="1900" b="1" i="0">
                <a:solidFill>
                  <a:srgbClr val="2BB3A3"/>
                </a:solidFill>
                <a:latin typeface="Calibri"/>
              </a:rPr>
              <a:t>2.  </a:t>
            </a:r>
            <a:r>
              <a:rPr sz="1800" b="0" i="0">
                <a:solidFill>
                  <a:srgbClr val="1F2430"/>
                </a:solidFill>
                <a:latin typeface="Calibri"/>
              </a:rPr>
              <a:t>Доказаны выборочная сложность (A), исправленная reward-shaping формулировка (B), оценка и точный разрыв совместной и каскадной политик (C, D), слабое доминирование (2.3) и Парето-скаляризация (2.4).</a:t>
            </a:r>
          </a:p>
          <a:p>
            <a:pPr>
              <a:spcAft>
                <a:spcPts val="1300"/>
              </a:spcAft>
            </a:pPr>
            <a:r>
              <a:rPr sz="1900" b="1" i="0">
                <a:solidFill>
                  <a:srgbClr val="2BB3A3"/>
                </a:solidFill>
                <a:latin typeface="Calibri"/>
              </a:rPr>
              <a:t>3.  </a:t>
            </a:r>
            <a:r>
              <a:rPr sz="1800" b="0" i="0">
                <a:solidFill>
                  <a:srgbClr val="1F2430"/>
                </a:solidFill>
                <a:latin typeface="Calibri"/>
              </a:rPr>
              <a:t>Реализован block-v1 pipeline с семантической валидацией: legacy 16-action policies не переиспользуются как новые результаты.</a:t>
            </a:r>
          </a:p>
          <a:p>
            <a:pPr>
              <a:spcAft>
                <a:spcPts val="1300"/>
              </a:spcAft>
            </a:pPr>
            <a:r>
              <a:rPr sz="1900" b="1" i="0">
                <a:solidFill>
                  <a:srgbClr val="2BB3A3"/>
                </a:solidFill>
                <a:latin typeface="Calibri"/>
              </a:rPr>
              <a:t>4.  </a:t>
            </a:r>
            <a:r>
              <a:rPr sz="1800" b="0" i="0">
                <a:solidFill>
                  <a:srgbClr val="1F2430"/>
                </a:solidFill>
                <a:latin typeface="Calibri"/>
              </a:rPr>
              <a:t>Legacy-прогоны показывают потенциал; финальный block-v1 claim требует rerun. Установлены границы применимости: joint ≈ cascade и нуль на низком отношении мощностей.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2BB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80160"/>
            <a:ext cx="6949440" cy="4206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4000" b="1" i="0">
                <a:solidFill>
                  <a:srgbClr val="1B2A4A"/>
                </a:solidFill>
                <a:latin typeface="Calibri"/>
              </a:rPr>
              <a:t>Спасибо за внимание</a:t>
            </a:r>
          </a:p>
          <a:p>
            <a:pPr>
              <a:spcBef>
                <a:spcPts val="1800"/>
              </a:spcBef>
            </a:pPr>
            <a:r>
              <a:rPr sz="2000" b="0" i="0">
                <a:solidFill>
                  <a:srgbClr val="1F2430"/>
                </a:solidFill>
                <a:latin typeface="Calibri"/>
              </a:rPr>
              <a:t>Готов ответить на ваши вопросы.</a:t>
            </a:r>
          </a:p>
          <a:p>
            <a:pPr>
              <a:spcBef>
                <a:spcPts val="2400"/>
              </a:spcBef>
            </a:pPr>
            <a:r>
              <a:rPr sz="1500" b="0" i="0">
                <a:solidFill>
                  <a:srgbClr val="5A6172"/>
                </a:solidFill>
                <a:latin typeface="Calibri"/>
              </a:rPr>
              <a:t>Репозиторий: код, 72 теста, манифесты воспроизводимости,</a:t>
            </a:r>
          </a:p>
          <a:p>
            <a:r>
              <a:rPr sz="1500" b="0" i="0">
                <a:solidFill>
                  <a:srgbClr val="5A6172"/>
                </a:solidFill>
                <a:latin typeface="Calibri"/>
              </a:rPr>
              <a:t>полный текст ВКР и план презентации.</a:t>
            </a:r>
          </a:p>
          <a:p>
            <a:pPr>
              <a:spcBef>
                <a:spcPts val="1000"/>
              </a:spcBef>
            </a:pPr>
            <a:r>
              <a:rPr sz="1300" b="1" i="0">
                <a:solidFill>
                  <a:srgbClr val="2BB3A3"/>
                </a:solidFill>
                <a:latin typeface="DejaVu Sans Mono"/>
              </a:rPr>
              <a:t>github.com/levvius/adaptive-speculative-decoding/tree/v1-defense</a:t>
            </a:r>
          </a:p>
        </p:txBody>
      </p:sp>
      <p:pic>
        <p:nvPicPr>
          <p:cNvPr id="7" name="Picture 6" descr="repo_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2148840"/>
            <a:ext cx="2560320" cy="2560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0" y="475488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5A6172"/>
                </a:solidFill>
                <a:latin typeface="Calibri"/>
              </a:rPr>
              <a:t>→ репозиторий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